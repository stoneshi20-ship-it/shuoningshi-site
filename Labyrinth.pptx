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
  </p:sldMasterIdLst>
  <p:notesMasterIdLst>
    <p:notesMasterId r:id="rIdNM"/>
  </p:notesMasterIdLst>
  <p:sldIdLst>
    <p:sldId id="256" r:id="rIdS1"/>
    <p:sldId id="257" r:id="rIdS2"/>
    <p:sldId id="258" r:id="rIdS3"/>
    <p:sldId id="259" r:id="rIdS4"/>
    <p:sldId id="260" r:id="rIdS5"/>
    <p:sldId id="261" r:id="rIdS6"/>
    <p:sldId id="262" r:id="rIdS7"/>
    <p:sldId id="263" r:id="rIdS8"/>
    <p:sldId id="264" r:id="rIdS9"/>
    <p:sldId id="265" r:id="rIdS10"/>
    <p:sldId id="266" r:id="rIdS11"/>
  </p:sldIdLst>
  <p:sldSz cx="12192000" cy="6858000" type="screen16x9"/>
  <p:notesSz cx="6858000" cy="12192000"/>
</p:presentation>
</file>

<file path=ppt/_rels/presentation.xml.rels><?xml version="1.0" encoding="UTF-8" standalone="yes"?><Relationships xmlns="http://schemas.openxmlformats.org/package/2006/relationships"><Relationship Id="rIdM" Type="http://schemas.openxmlformats.org/officeDocument/2006/relationships/slideMaster" Target="slideMasters/slideMaster1.xml"/><Relationship Id="rIdNM" Type="http://schemas.openxmlformats.org/officeDocument/2006/relationships/notesMaster" Target="notesMasters/notesMaster1.xml"/><Relationship Id="rIdT"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s>
</file>

<file path=ppt/notesMasters/_rels/notesMaster1.xml.rels><?xml version="1.0" encoding="UTF-8" standalone="yes"?><Relationships xmlns="http://schemas.openxmlformats.org/package/2006/relationships"><Relationship Id="rIdT"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0" y="0"/>
            <a:ext cx="6858000" cy="12192000"/>
          </a:xfrm>
        </p:spPr>
        <p:txBody>
          <a:bodyPr/>
          <a:lstStyle/>
          <a:p/>
        </p:txBody>
      </p:sp>
    </p:spTree>
  </p:cSld>
  <p:clrMap bg1="lt1" tx1="dk1" bg2="lt2" tx2="dk2" accent1="accent1" accent2="accent2" accent3="accent3" accent4="accent4" accent5="accent5" accent6="accent6" hlink="hlink" folHlink="folHlink"/>
  <p:notesStyle>
    <a:lvl1pPr>
      <a:defRPr sz="1400">
        <a:solidFill>
          <a:schemeClr val="tx1"/>
        </a:solidFill>
      </a:defRPr>
    </a:lvl1pPr>
    <a:lvl2pPr>
      <a:defRPr sz="1400"/>
    </a:lvl2pPr>
    <a:lvl3pPr>
      <a:defRPr sz="1400"/>
    </a:lvl3pPr>
    <a:lvl4pPr>
      <a:defRPr sz="1400"/>
    </a:lvl4pPr>
    <a:lvl5pPr>
      <a:defRPr sz="1400"/>
    </a:lvl5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Hey — so this is Labyrinth. The brief was simple on paper: a desk device that helps busy executives find a little calm in the middle of the day. But the more I dug in, the more I realized the hard part isn't relaxation — it's everything around it. Let me walk you through it.</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First, the mindset I went in with. I didn't want to design a machine. I wanted to design a moment — three quiet minutes someone can actually take at their desk. So the whole time, the question wasn't 'what features does it have,' it was 'what does that pause feel like.'</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Here's the real problem. Executives don't actually lack breaks — they lack a break they feel allowed to take. Their day is chopped into three-to-eight-minute gaps. They're often in a glass office, so anything they do is on show. And they've got zero patience for setup. So the bar was high: fast, low-key, basically invisible.</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To get there I kept the research small but real — desk research, a short survey, a couple interviews, and usability testing. And every quote pointed at a design move. 'I never actually step away' — so it happens right at the desk. 'Apps? too long, another screen' — so no screen, no audio. 'It has to be low-key' — so it looks like you're just touching an object. And here's the prototype — you follow this warm light: inward as you breathe in, back out as you breathe out. No instructions, nothing to learn.</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Those conversations boiled down to six truths — and I treated each as a hard constraint. It has to be low-key. Apps get abandoned, so no screen. Hands already fidget, so give them something better to do. People can't just decide to relax, so something external should lead. It has to survive interruption — stop and resume, no guilt. And taste and material matter, because this lives on their desk.</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So the interaction is one gesture. Your finger falls into a single spiral groove and follows the light. The groove limits how fast you can move, so you slow down whether you mean to or not. And when you keep pace, the path glows warmer — a quiet 'you've got it.'</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Form-wise, I wanted a soft pebble, not a device. A smooth white-ceramic saucer, palm-sized, rounded everywhere — no sharp edges. One spiral groove flowing into a little dish in the center. And no buttons on show — you just lift it to wake it.</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This is it on a desk. It doesn't read as tech — it reads as a quiet object you'd want to keep there. That was the point: it invites you in without demanding anything.</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Under the calm, it is engineered. A ring of LEDs feeds a diffuser in the floor of the groove, so the light looks like it lives inside the channel — you never see a bulb. A soft point travels the groove to pace your breath, in warm amber, never a cold notification. Plus a gentle warming layer and a weighted base.</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One ritual, but it can suit any desk — ceramic, marble, amber resin, aluminium, walnut, dark stone. Same object, different personalities.</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a:spLocks noGrp="1"/>
          </p:cNvSpPr>
          <p:nvPr>
            <p:ph type="body" idx="1"/>
          </p:nvPr>
        </p:nvSpPr>
        <p:spPr/>
        <p:txBody>
          <a:bodyPr/>
          <a:lstStyle/>
          <a:p>
            <a:r>
              <a:rPr lang="en-US" sz="1400"/>
              <a:t>So to wrap up — I didn't really design a disc. I designed three quiet minutes. Next would be a physical prototype with the real engraved groove and light, and validating the calming effect with heart-rate data. But the core idea is here: something small and beautiful that gives a busy person permission to breathe. Thanks — happy to take questions.</a:t>
            </a: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T"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2EA"/>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solidFill>
            <a:schemeClr val="tx1"/>
          </a:solidFill>
          <a:latin typeface="+mj-lt"/>
        </a:defRPr>
      </a:lvl1pPr>
    </p:titleStyle>
    <p:bodyStyle>
      <a:lvl1pPr>
        <a:defRPr sz="1800">
          <a:solidFill>
            <a:schemeClr val="tx1"/>
          </a:solidFill>
          <a:latin typeface="+mn-lt"/>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p:bodyStyle>
    <p:otherStyle>
      <a:lvl1pPr>
        <a:defRPr sz="1800">
          <a:solidFill>
            <a:schemeClr val="tx1"/>
          </a:solidFill>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1.xml"/><Relationship Id="rId2" Type="http://schemas.openxmlformats.org/officeDocument/2006/relationships/image" Target="../media/her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4.xml"/><Relationship Id="rId2" Type="http://schemas.openxmlformats.org/officeDocument/2006/relationships/image" Target="../media/demo-poster.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6.xml"/><Relationship Id="rId2" Type="http://schemas.openxmlformats.org/officeDocument/2006/relationships/image" Target="../media/hand.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7.xml"/><Relationship Id="rId2" Type="http://schemas.openxmlformats.org/officeDocument/2006/relationships/image" Target="../media/views.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8.xml"/><Relationship Id="rId2" Type="http://schemas.openxmlformats.org/officeDocument/2006/relationships/image" Target="../media/context.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9.xml"/><Relationship Id="rId2" Type="http://schemas.openxmlformats.org/officeDocument/2006/relationships/image" Target="../media/exploded.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10.xml"/><Relationship Id="rId2" Type="http://schemas.openxmlformats.org/officeDocument/2006/relationships/image" Target="../media/variants.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N"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
          <p:cNvPicPr/>
          <p:nvPr/>
        </p:nvPicPr>
        <p:blipFill>
          <a:blip r:embed="rId2"/>
          <a:stretch>
            <a:fillRect/>
          </a:stretch>
        </p:blipFill>
        <p:spPr>
          <a:xfrm>
            <a:off x="0" y="0"/>
            <a:ext cx="12192000" cy="6858000"/>
          </a:xfrm>
          <a:prstGeom prst="rect">
            <a:avLst/>
          </a:prstGeom>
        </p:spPr>
      </p:pic>
      <p:sp>
        <p:nvSpPr>
          <p:cNvPr id="12" name="r"/>
          <p:cNvSpPr/>
          <p:nvPr/>
        </p:nvSpPr>
        <p:spPr>
          <a:xfrm>
            <a:off x="0" y="0"/>
            <a:ext cx="6583680" cy="6858000"/>
          </a:xfrm>
          <a:prstGeom prst="rect">
            <a:avLst/>
          </a:prstGeom>
          <a:solidFill>
            <a:srgbClr val="140F0C">
              <a:alpha val="42000"/>
            </a:srgbClr>
          </a:solidFill>
          <a:ln>
            <a:noFill/>
          </a:ln>
        </p:spPr>
        <p:txBody>
          <a:bodyPr/>
          <a:p/>
        </p:txBody>
      </p:sp>
      <p:sp>
        <p:nvSpPr>
          <p:cNvPr id="13" name="t"/>
          <p:cNvSpPr txBox="1"/>
          <p:nvPr/>
        </p:nvSpPr>
        <p:spPr>
          <a:xfrm>
            <a:off x="777240" y="2194560"/>
            <a:ext cx="6035040" cy="457200"/>
          </a:xfrm>
          <a:prstGeom prst="rect">
            <a:avLst/>
          </a:prstGeom>
          <a:noFill/>
        </p:spPr>
        <p:txBody>
          <a:bodyPr wrap="square" anchor="t">
            <a:normAutofit/>
          </a:bodyPr>
          <a:p>
            <a:pPr/>
            <a:r>
              <a:rPr lang="en-US" sz="1300" b="1">
                <a:solidFill>
                  <a:srgbClr val="F0C088"/>
                </a:solidFill>
                <a:latin typeface="Helvetica Neue"/>
              </a:rPr>
              <a:t>DESIGNING AN EXPERIENCE, NOT JUST AN OBJECT</a:t>
            </a:r>
          </a:p>
        </p:txBody>
      </p:sp>
      <p:sp>
        <p:nvSpPr>
          <p:cNvPr id="14" name="t"/>
          <p:cNvSpPr txBox="1"/>
          <p:nvPr/>
        </p:nvSpPr>
        <p:spPr>
          <a:xfrm>
            <a:off x="777240" y="2651760"/>
            <a:ext cx="6035040" cy="1463040"/>
          </a:xfrm>
          <a:prstGeom prst="rect">
            <a:avLst/>
          </a:prstGeom>
          <a:noFill/>
        </p:spPr>
        <p:txBody>
          <a:bodyPr wrap="square" anchor="t">
            <a:normAutofit/>
          </a:bodyPr>
          <a:p>
            <a:pPr/>
            <a:r>
              <a:rPr lang="en-US" sz="6000" b="1">
                <a:solidFill>
                  <a:srgbClr val="FFFFFF"/>
                </a:solidFill>
                <a:latin typeface="Helvetica Neue"/>
              </a:rPr>
              <a:t>Labyrinth</a:t>
            </a:r>
          </a:p>
        </p:txBody>
      </p:sp>
      <p:sp>
        <p:nvSpPr>
          <p:cNvPr id="15" name="t"/>
          <p:cNvSpPr txBox="1"/>
          <p:nvPr/>
        </p:nvSpPr>
        <p:spPr>
          <a:xfrm>
            <a:off x="777240" y="4114800"/>
            <a:ext cx="5669280" cy="1463040"/>
          </a:xfrm>
          <a:prstGeom prst="rect">
            <a:avLst/>
          </a:prstGeom>
          <a:noFill/>
        </p:spPr>
        <p:txBody>
          <a:bodyPr wrap="square" anchor="t">
            <a:normAutofit/>
          </a:bodyPr>
          <a:p>
            <a:pPr/>
            <a:r>
              <a:rPr lang="en-US" sz="2200">
                <a:solidFill>
                  <a:srgbClr val="F3ECE1"/>
                </a:solidFill>
                <a:latin typeface="Helvetica Neue"/>
              </a:rPr>
              <a:t>A desk ritual that gives a busy executive three minutes to breathe, trace, and come back down.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
          <p:cNvSpPr/>
          <p:nvPr/>
        </p:nvSpPr>
        <p:spPr>
          <a:xfrm>
            <a:off x="0" y="0"/>
            <a:ext cx="12192000" cy="6858000"/>
          </a:xfrm>
          <a:prstGeom prst="rect">
            <a:avLst/>
          </a:prstGeom>
          <a:solidFill>
            <a:srgbClr val="F6F2EA"/>
          </a:solidFill>
          <a:ln>
            <a:noFill/>
          </a:ln>
        </p:spPr>
        <p:txBody>
          <a:bodyPr/>
          <a:p/>
        </p:txBody>
      </p:sp>
      <p:sp>
        <p:nvSpPr>
          <p:cNvPr id="17" name="t"/>
          <p:cNvSpPr txBox="1"/>
          <p:nvPr/>
        </p:nvSpPr>
        <p:spPr>
          <a:xfrm>
            <a:off x="777240" y="914400"/>
            <a:ext cx="10637520" cy="365760"/>
          </a:xfrm>
          <a:prstGeom prst="rect">
            <a:avLst/>
          </a:prstGeom>
          <a:noFill/>
        </p:spPr>
        <p:txBody>
          <a:bodyPr wrap="square" anchor="t">
            <a:normAutofit/>
          </a:bodyPr>
          <a:p>
            <a:pPr/>
            <a:r>
              <a:rPr lang="en-US" sz="1300" b="1">
                <a:solidFill>
                  <a:srgbClr val="B06F30"/>
                </a:solidFill>
                <a:latin typeface="Helvetica Neue"/>
              </a:rPr>
              <a:t>THE INTENT</a:t>
            </a:r>
          </a:p>
        </p:txBody>
      </p:sp>
      <p:sp>
        <p:nvSpPr>
          <p:cNvPr id="18" name="t"/>
          <p:cNvSpPr txBox="1"/>
          <p:nvPr/>
        </p:nvSpPr>
        <p:spPr>
          <a:xfrm>
            <a:off x="777240" y="1417320"/>
            <a:ext cx="10637520" cy="1463040"/>
          </a:xfrm>
          <a:prstGeom prst="rect">
            <a:avLst/>
          </a:prstGeom>
          <a:noFill/>
        </p:spPr>
        <p:txBody>
          <a:bodyPr wrap="square" anchor="t">
            <a:normAutofit/>
          </a:bodyPr>
          <a:p>
            <a:pPr/>
            <a:r>
              <a:rPr lang="en-US" sz="4000" b="1">
                <a:solidFill>
                  <a:srgbClr val="2A2622"/>
                </a:solidFill>
                <a:latin typeface="Helvetica Neue"/>
              </a:rPr>
              <a:t>We set out to shape a moment, not a machine.</a:t>
            </a:r>
          </a:p>
        </p:txBody>
      </p:sp>
      <p:sp>
        <p:nvSpPr>
          <p:cNvPr id="19" name="t"/>
          <p:cNvSpPr txBox="1"/>
          <p:nvPr/>
        </p:nvSpPr>
        <p:spPr>
          <a:xfrm>
            <a:off x="777240" y="3154680"/>
            <a:ext cx="9326880" cy="3108960"/>
          </a:xfrm>
          <a:prstGeom prst="rect">
            <a:avLst/>
          </a:prstGeom>
          <a:noFill/>
        </p:spPr>
        <p:txBody>
          <a:bodyPr wrap="square" anchor="t">
            <a:normAutofit/>
          </a:bodyPr>
          <a:p>
            <a:pPr/>
            <a:r>
              <a:rPr lang="en-US" sz="2000">
                <a:solidFill>
                  <a:srgbClr val="6F6A63"/>
                </a:solidFill>
                <a:latin typeface="Helvetica Neue"/>
              </a:rPr>
              <a:t>A meditation app asks for your attention. Labyrinth asks for almost nothing.</a:t>
            </a:r>
          </a:p>
          <a:p>
            <a:pPr/>
            <a:r>
              <a:rPr lang="en-US" sz="2000">
                <a:solidFill>
                  <a:srgbClr val="6F6A63"/>
                </a:solidFill>
                <a:latin typeface="Helvetica Neue"/>
              </a:rPr>
              <a:t>You reach out, your finger falls into the groove, a warm light breathes ahead of it, and for three minutes the day goes quiet.</a:t>
            </a:r>
          </a:p>
          <a:p>
            <a:pPr/>
            <a:r>
              <a:rPr lang="en-US" sz="2000">
                <a:solidFill>
                  <a:srgbClr val="6F6A63"/>
                </a:solidFill>
                <a:latin typeface="Helvetica Neue"/>
              </a:rPr>
              <a:t>That feeling is the product; the ceramic disc is just how it reaches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
          <p:cNvSpPr/>
          <p:nvPr/>
        </p:nvSpPr>
        <p:spPr>
          <a:xfrm>
            <a:off x="0" y="0"/>
            <a:ext cx="12192000" cy="6858000"/>
          </a:xfrm>
          <a:prstGeom prst="rect">
            <a:avLst/>
          </a:prstGeom>
          <a:solidFill>
            <a:srgbClr val="F6F2EA"/>
          </a:solidFill>
          <a:ln>
            <a:noFill/>
          </a:ln>
        </p:spPr>
        <p:txBody>
          <a:bodyPr/>
          <a:p/>
        </p:txBody>
      </p:sp>
      <p:sp>
        <p:nvSpPr>
          <p:cNvPr id="21" name="t"/>
          <p:cNvSpPr txBox="1"/>
          <p:nvPr/>
        </p:nvSpPr>
        <p:spPr>
          <a:xfrm>
            <a:off x="777240" y="914400"/>
            <a:ext cx="10637520" cy="365760"/>
          </a:xfrm>
          <a:prstGeom prst="rect">
            <a:avLst/>
          </a:prstGeom>
          <a:noFill/>
        </p:spPr>
        <p:txBody>
          <a:bodyPr wrap="square" anchor="t">
            <a:normAutofit/>
          </a:bodyPr>
          <a:p>
            <a:pPr/>
            <a:r>
              <a:rPr lang="en-US" sz="1300" b="1">
                <a:solidFill>
                  <a:srgbClr val="B06F30"/>
                </a:solidFill>
                <a:latin typeface="Helvetica Neue"/>
              </a:rPr>
              <a:t>THE PROBLEM</a:t>
            </a:r>
          </a:p>
        </p:txBody>
      </p:sp>
      <p:sp>
        <p:nvSpPr>
          <p:cNvPr id="22" name="t"/>
          <p:cNvSpPr txBox="1"/>
          <p:nvPr/>
        </p:nvSpPr>
        <p:spPr>
          <a:xfrm>
            <a:off x="777240" y="1417320"/>
            <a:ext cx="10637520" cy="1463040"/>
          </a:xfrm>
          <a:prstGeom prst="rect">
            <a:avLst/>
          </a:prstGeom>
          <a:noFill/>
        </p:spPr>
        <p:txBody>
          <a:bodyPr wrap="square" anchor="t">
            <a:normAutofit/>
          </a:bodyPr>
          <a:p>
            <a:pPr/>
            <a:r>
              <a:rPr lang="en-US" sz="4000" b="1">
                <a:solidFill>
                  <a:srgbClr val="2A2622"/>
                </a:solidFill>
                <a:latin typeface="Helvetica Neue"/>
              </a:rPr>
              <a:t>Executives don't lack breaks. They lack a break they're allowed to take.</a:t>
            </a:r>
          </a:p>
        </p:txBody>
      </p:sp>
      <p:sp>
        <p:nvSpPr>
          <p:cNvPr id="23" name="t"/>
          <p:cNvSpPr txBox="1"/>
          <p:nvPr/>
        </p:nvSpPr>
        <p:spPr>
          <a:xfrm>
            <a:off x="777240" y="3154680"/>
            <a:ext cx="9326880" cy="3108960"/>
          </a:xfrm>
          <a:prstGeom prst="rect">
            <a:avLst/>
          </a:prstGeom>
          <a:noFill/>
        </p:spPr>
        <p:txBody>
          <a:bodyPr wrap="square" anchor="t">
            <a:normAutofit/>
          </a:bodyPr>
          <a:p>
            <a:pPr/>
            <a:r>
              <a:rPr lang="en-US" sz="2000">
                <a:solidFill>
                  <a:srgbClr val="6F6A63"/>
                </a:solidFill>
                <a:latin typeface="Helvetica Neue"/>
              </a:rPr>
              <a:t>Fragmented — 3–8 min between meetings, easily interrupted.</a:t>
            </a:r>
          </a:p>
          <a:p>
            <a:pPr/>
            <a:r>
              <a:rPr lang="en-US" sz="2000">
                <a:solidFill>
                  <a:srgbClr val="6F6A63"/>
                </a:solidFill>
                <a:latin typeface="Helvetica Neue"/>
              </a:rPr>
              <a:t>Low-key — open, glass-walled offices; the reset has to stay discreet.</a:t>
            </a:r>
          </a:p>
          <a:p>
            <a:pPr/>
            <a:r>
              <a:rPr lang="en-US" sz="2000">
                <a:solidFill>
                  <a:srgbClr val="6F6A63"/>
                </a:solidFill>
                <a:latin typeface="Helvetica Neue"/>
              </a:rPr>
              <a:t>Zero setup — no pairing, no screen, one gesture.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
          <p:cNvSpPr/>
          <p:nvPr/>
        </p:nvSpPr>
        <p:spPr>
          <a:xfrm>
            <a:off x="0" y="0"/>
            <a:ext cx="12192000" cy="6858000"/>
          </a:xfrm>
          <a:prstGeom prst="rect">
            <a:avLst/>
          </a:prstGeom>
          <a:solidFill>
            <a:srgbClr val="F6F2EA"/>
          </a:solidFill>
          <a:ln>
            <a:noFill/>
          </a:ln>
        </p:spPr>
        <p:txBody>
          <a:bodyPr/>
          <a:p/>
        </p:txBody>
      </p:sp>
      <p:sp>
        <p:nvSpPr>
          <p:cNvPr id="25" name="r"/>
          <p:cNvSpPr/>
          <p:nvPr/>
        </p:nvSpPr>
        <p:spPr>
          <a:xfrm>
            <a:off x="5989320" y="640080"/>
            <a:ext cx="5486400" cy="5577840"/>
          </a:xfrm>
          <a:prstGeom prst="rect">
            <a:avLst/>
          </a:prstGeom>
          <a:solidFill>
            <a:srgbClr val="F6F2EA"/>
          </a:solidFill>
          <a:ln>
            <a:noFill/>
          </a:ln>
        </p:spPr>
        <p:txBody>
          <a:bodyPr/>
          <a:p/>
        </p:txBody>
      </p:sp>
      <p:pic>
        <p:nvPicPr>
          <p:cNvPr id="26" name="p"/>
          <p:cNvPicPr/>
          <p:nvPr/>
        </p:nvPicPr>
        <p:blipFill>
          <a:blip r:embed="rId2"/>
          <a:stretch>
            <a:fillRect/>
          </a:stretch>
        </p:blipFill>
        <p:spPr>
          <a:xfrm>
            <a:off x="5989320" y="640080"/>
            <a:ext cx="5486400" cy="5577840"/>
          </a:xfrm>
          <a:prstGeom prst="rect">
            <a:avLst/>
          </a:prstGeom>
        </p:spPr>
      </p:pic>
      <p:sp>
        <p:nvSpPr>
          <p:cNvPr id="27" name="t"/>
          <p:cNvSpPr txBox="1"/>
          <p:nvPr/>
        </p:nvSpPr>
        <p:spPr>
          <a:xfrm>
            <a:off x="777240" y="822960"/>
            <a:ext cx="4937760" cy="365760"/>
          </a:xfrm>
          <a:prstGeom prst="rect">
            <a:avLst/>
          </a:prstGeom>
          <a:noFill/>
        </p:spPr>
        <p:txBody>
          <a:bodyPr wrap="square" anchor="t">
            <a:normAutofit/>
          </a:bodyPr>
          <a:p>
            <a:pPr/>
            <a:r>
              <a:rPr lang="en-US" sz="1300" b="1">
                <a:solidFill>
                  <a:srgbClr val="B06F30"/>
                </a:solidFill>
                <a:latin typeface="Helvetica Neue"/>
              </a:rPr>
              <a:t>USER STUDY</a:t>
            </a:r>
          </a:p>
        </p:txBody>
      </p:sp>
      <p:sp>
        <p:nvSpPr>
          <p:cNvPr id="28" name="t"/>
          <p:cNvSpPr txBox="1"/>
          <p:nvPr/>
        </p:nvSpPr>
        <p:spPr>
          <a:xfrm>
            <a:off x="777240" y="1280160"/>
            <a:ext cx="4937760" cy="1097280"/>
          </a:xfrm>
          <a:prstGeom prst="rect">
            <a:avLst/>
          </a:prstGeom>
          <a:noFill/>
        </p:spPr>
        <p:txBody>
          <a:bodyPr wrap="square" anchor="t">
            <a:normAutofit/>
          </a:bodyPr>
          <a:p>
            <a:pPr/>
            <a:r>
              <a:rPr lang="en-US" sz="3000" b="1">
                <a:solidFill>
                  <a:srgbClr val="2A2622"/>
                </a:solidFill>
                <a:latin typeface="Helvetica Neue"/>
              </a:rPr>
              <a:t>What people told us — and what it changed</a:t>
            </a:r>
          </a:p>
        </p:txBody>
      </p:sp>
      <p:sp>
        <p:nvSpPr>
          <p:cNvPr id="29" name="b"/>
          <p:cNvSpPr txBox="1"/>
          <p:nvPr/>
        </p:nvSpPr>
        <p:spPr>
          <a:xfrm>
            <a:off x="777240" y="2651760"/>
            <a:ext cx="4937760" cy="3291840"/>
          </a:xfrm>
          <a:prstGeom prst="rect">
            <a:avLst/>
          </a:prstGeom>
          <a:noFill/>
        </p:spPr>
        <p:txBody>
          <a:bodyPr wrap="square">
            <a:normAutofit/>
          </a:bodyPr>
          <a:p>
            <a:pPr marL="228600" indent="-228600">
              <a:buChar char="•"/>
            </a:pPr>
            <a:r>
              <a:rPr lang="en-US" sz="1500">
                <a:solidFill>
                  <a:srgbClr val="6F6A63"/>
                </a:solidFill>
                <a:latin typeface="Helvetica Neue"/>
              </a:rPr>
              <a:t>“I never step away.” → a reset right at the desk, under 3 minutes.</a:t>
            </a:r>
          </a:p>
          <a:p>
            <a:pPr marL="228600" indent="-228600">
              <a:buChar char="•"/>
            </a:pPr>
            <a:r>
              <a:rPr lang="en-US" sz="1500">
                <a:solidFill>
                  <a:srgbClr val="6F6A63"/>
                </a:solidFill>
                <a:latin typeface="Helvetica Neue"/>
              </a:rPr>
              <a:t>“Apps? Too long, another screen.” → no screen, no audio.</a:t>
            </a:r>
          </a:p>
          <a:p>
            <a:pPr marL="228600" indent="-228600">
              <a:buChar char="•"/>
            </a:pPr>
            <a:r>
              <a:rPr lang="en-US" sz="1500">
                <a:solidFill>
                  <a:srgbClr val="6F6A63"/>
                </a:solidFill>
                <a:latin typeface="Helvetica Neue"/>
              </a:rPr>
              <a:t>“It has to be low-key.” → reads as touching a desk object.</a:t>
            </a:r>
          </a:p>
          <a:p>
            <a:pPr marL="228600" indent="-228600">
              <a:buChar char="•"/>
            </a:pPr>
            <a:r>
              <a:rPr lang="en-US" sz="1500">
                <a:solidFill>
                  <a:srgbClr val="6F6A63"/>
                </a:solidFill>
                <a:latin typeface="Helvetica Neue"/>
              </a:rPr>
              <a:t>“It sits on my desk.” → aesthetics &amp; material matter.</a:t>
            </a:r>
          </a:p>
          <a:p>
            <a:pPr marL="228600" indent="-228600">
              <a:buChar char="•"/>
            </a:pPr>
            <a:r>
              <a:rPr lang="en-US" sz="1500">
                <a:solidFill>
                  <a:srgbClr val="6F6A63"/>
                </a:solidFill>
                <a:latin typeface="Helvetica Neue"/>
              </a:rPr>
              <a:t>Hands already fidget → give them a groove to trace.</a:t>
            </a:r>
          </a:p>
          <a:p>
            <a:pPr marL="228600" indent="-228600">
              <a:buChar char="•"/>
            </a:pPr>
            <a:r>
              <a:rPr lang="en-US" sz="1500">
                <a:solidFill>
                  <a:srgbClr val="6F6A63"/>
                </a:solidFill>
                <a:latin typeface="Helvetica Neue"/>
              </a:rPr>
              <a:t>“Can't switch off on command.” → the light leads the breath.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
          <p:cNvSpPr/>
          <p:nvPr/>
        </p:nvSpPr>
        <p:spPr>
          <a:xfrm>
            <a:off x="0" y="0"/>
            <a:ext cx="12192000" cy="6858000"/>
          </a:xfrm>
          <a:prstGeom prst="rect">
            <a:avLst/>
          </a:prstGeom>
          <a:solidFill>
            <a:srgbClr val="F6F2EA"/>
          </a:solidFill>
          <a:ln>
            <a:noFill/>
          </a:ln>
        </p:spPr>
        <p:txBody>
          <a:bodyPr/>
          <a:p/>
        </p:txBody>
      </p:sp>
      <p:sp>
        <p:nvSpPr>
          <p:cNvPr id="31" name="t"/>
          <p:cNvSpPr txBox="1"/>
          <p:nvPr/>
        </p:nvSpPr>
        <p:spPr>
          <a:xfrm>
            <a:off x="777240" y="731520"/>
            <a:ext cx="9144000" cy="365760"/>
          </a:xfrm>
          <a:prstGeom prst="rect">
            <a:avLst/>
          </a:prstGeom>
          <a:noFill/>
        </p:spPr>
        <p:txBody>
          <a:bodyPr wrap="square" anchor="t">
            <a:normAutofit/>
          </a:bodyPr>
          <a:p>
            <a:pPr/>
            <a:r>
              <a:rPr lang="en-US" sz="1300" b="1">
                <a:solidFill>
                  <a:srgbClr val="B06F30"/>
                </a:solidFill>
                <a:latin typeface="Helvetica Neue"/>
              </a:rPr>
              <a:t>WHAT WE LEARNED</a:t>
            </a:r>
          </a:p>
        </p:txBody>
      </p:sp>
      <p:sp>
        <p:nvSpPr>
          <p:cNvPr id="32" name="t"/>
          <p:cNvSpPr txBox="1"/>
          <p:nvPr/>
        </p:nvSpPr>
        <p:spPr>
          <a:xfrm>
            <a:off x="777240" y="1188720"/>
            <a:ext cx="9144000" cy="822960"/>
          </a:xfrm>
          <a:prstGeom prst="rect">
            <a:avLst/>
          </a:prstGeom>
          <a:noFill/>
        </p:spPr>
        <p:txBody>
          <a:bodyPr wrap="square" anchor="t">
            <a:normAutofit/>
          </a:bodyPr>
          <a:p>
            <a:pPr/>
            <a:r>
              <a:rPr lang="en-US" sz="3000" b="1">
                <a:solidFill>
                  <a:srgbClr val="2A2622"/>
                </a:solidFill>
                <a:latin typeface="Helvetica Neue"/>
              </a:rPr>
              <a:t>Six truths that became design constraints</a:t>
            </a:r>
          </a:p>
        </p:txBody>
      </p:sp>
      <p:sp>
        <p:nvSpPr>
          <p:cNvPr id="33" name="r"/>
          <p:cNvSpPr/>
          <p:nvPr/>
        </p:nvSpPr>
        <p:spPr>
          <a:xfrm>
            <a:off x="777240" y="2286000"/>
            <a:ext cx="3383280" cy="1737360"/>
          </a:xfrm>
          <a:prstGeom prst="rect">
            <a:avLst/>
          </a:prstGeom>
          <a:solidFill>
            <a:srgbClr val="EDE7DD"/>
          </a:solidFill>
          <a:ln>
            <a:noFill/>
          </a:ln>
        </p:spPr>
        <p:txBody>
          <a:bodyPr/>
          <a:p/>
        </p:txBody>
      </p:sp>
      <p:sp>
        <p:nvSpPr>
          <p:cNvPr id="34" name="t"/>
          <p:cNvSpPr txBox="1"/>
          <p:nvPr/>
        </p:nvSpPr>
        <p:spPr>
          <a:xfrm>
            <a:off x="960120" y="2450592"/>
            <a:ext cx="3017520" cy="457200"/>
          </a:xfrm>
          <a:prstGeom prst="rect">
            <a:avLst/>
          </a:prstGeom>
          <a:noFill/>
        </p:spPr>
        <p:txBody>
          <a:bodyPr wrap="square" anchor="t">
            <a:normAutofit/>
          </a:bodyPr>
          <a:p>
            <a:pPr/>
            <a:r>
              <a:rPr lang="en-US" sz="1500" b="1">
                <a:solidFill>
                  <a:srgbClr val="2A2622"/>
                </a:solidFill>
                <a:latin typeface="Helvetica Neue"/>
              </a:rPr>
              <a:t>01 It has to be low-key</a:t>
            </a:r>
          </a:p>
        </p:txBody>
      </p:sp>
      <p:sp>
        <p:nvSpPr>
          <p:cNvPr id="35" name="t"/>
          <p:cNvSpPr txBox="1"/>
          <p:nvPr/>
        </p:nvSpPr>
        <p:spPr>
          <a:xfrm>
            <a:off x="960120" y="2944368"/>
            <a:ext cx="3017520" cy="914400"/>
          </a:xfrm>
          <a:prstGeom prst="rect">
            <a:avLst/>
          </a:prstGeom>
          <a:noFill/>
        </p:spPr>
        <p:txBody>
          <a:bodyPr wrap="square" anchor="t">
            <a:normAutofit/>
          </a:bodyPr>
          <a:p>
            <a:pPr/>
            <a:r>
              <a:rPr lang="en-US" sz="1200">
                <a:solidFill>
                  <a:srgbClr val="6F6A63"/>
                </a:solidFill>
                <a:latin typeface="Helvetica Neue"/>
              </a:rPr>
              <a:t>Discreet in a shared office — touching an object, not “doing wellness.”</a:t>
            </a:r>
          </a:p>
        </p:txBody>
      </p:sp>
      <p:sp>
        <p:nvSpPr>
          <p:cNvPr id="36" name="r"/>
          <p:cNvSpPr/>
          <p:nvPr/>
        </p:nvSpPr>
        <p:spPr>
          <a:xfrm>
            <a:off x="4389120" y="2286000"/>
            <a:ext cx="3383280" cy="1737360"/>
          </a:xfrm>
          <a:prstGeom prst="rect">
            <a:avLst/>
          </a:prstGeom>
          <a:solidFill>
            <a:srgbClr val="EDE7DD"/>
          </a:solidFill>
          <a:ln>
            <a:noFill/>
          </a:ln>
        </p:spPr>
        <p:txBody>
          <a:bodyPr/>
          <a:p/>
        </p:txBody>
      </p:sp>
      <p:sp>
        <p:nvSpPr>
          <p:cNvPr id="37" name="t"/>
          <p:cNvSpPr txBox="1"/>
          <p:nvPr/>
        </p:nvSpPr>
        <p:spPr>
          <a:xfrm>
            <a:off x="4572000" y="2450592"/>
            <a:ext cx="3017520" cy="457200"/>
          </a:xfrm>
          <a:prstGeom prst="rect">
            <a:avLst/>
          </a:prstGeom>
          <a:noFill/>
        </p:spPr>
        <p:txBody>
          <a:bodyPr wrap="square" anchor="t">
            <a:normAutofit/>
          </a:bodyPr>
          <a:p>
            <a:pPr/>
            <a:r>
              <a:rPr lang="en-US" sz="1500" b="1">
                <a:solidFill>
                  <a:srgbClr val="2A2622"/>
                </a:solidFill>
                <a:latin typeface="Helvetica Neue"/>
              </a:rPr>
              <a:t>02 Apps get abandoned</a:t>
            </a:r>
          </a:p>
        </p:txBody>
      </p:sp>
      <p:sp>
        <p:nvSpPr>
          <p:cNvPr id="38" name="t"/>
          <p:cNvSpPr txBox="1"/>
          <p:nvPr/>
        </p:nvSpPr>
        <p:spPr>
          <a:xfrm>
            <a:off x="4572000" y="2944368"/>
            <a:ext cx="3017520" cy="914400"/>
          </a:xfrm>
          <a:prstGeom prst="rect">
            <a:avLst/>
          </a:prstGeom>
          <a:noFill/>
        </p:spPr>
        <p:txBody>
          <a:bodyPr wrap="square" anchor="t">
            <a:normAutofit/>
          </a:bodyPr>
          <a:p>
            <a:pPr/>
            <a:r>
              <a:rPr lang="en-US" sz="1200">
                <a:solidFill>
                  <a:srgbClr val="6F6A63"/>
                </a:solidFill>
                <a:latin typeface="Helvetica Neue"/>
              </a:rPr>
              <a:t>Too long, needs headphones, another screen. So: no screen, no audio, &lt;3 min.</a:t>
            </a:r>
          </a:p>
        </p:txBody>
      </p:sp>
      <p:sp>
        <p:nvSpPr>
          <p:cNvPr id="39" name="r"/>
          <p:cNvSpPr/>
          <p:nvPr/>
        </p:nvSpPr>
        <p:spPr>
          <a:xfrm>
            <a:off x="8001000" y="2286000"/>
            <a:ext cx="3383280" cy="1737360"/>
          </a:xfrm>
          <a:prstGeom prst="rect">
            <a:avLst/>
          </a:prstGeom>
          <a:solidFill>
            <a:srgbClr val="EDE7DD"/>
          </a:solidFill>
          <a:ln>
            <a:noFill/>
          </a:ln>
        </p:spPr>
        <p:txBody>
          <a:bodyPr/>
          <a:p/>
        </p:txBody>
      </p:sp>
      <p:sp>
        <p:nvSpPr>
          <p:cNvPr id="40" name="t"/>
          <p:cNvSpPr txBox="1"/>
          <p:nvPr/>
        </p:nvSpPr>
        <p:spPr>
          <a:xfrm>
            <a:off x="8183880" y="2450592"/>
            <a:ext cx="3017520" cy="457200"/>
          </a:xfrm>
          <a:prstGeom prst="rect">
            <a:avLst/>
          </a:prstGeom>
          <a:noFill/>
        </p:spPr>
        <p:txBody>
          <a:bodyPr wrap="square" anchor="t">
            <a:normAutofit/>
          </a:bodyPr>
          <a:p>
            <a:pPr/>
            <a:r>
              <a:rPr lang="en-US" sz="1500" b="1">
                <a:solidFill>
                  <a:srgbClr val="2A2622"/>
                </a:solidFill>
                <a:latin typeface="Helvetica Neue"/>
              </a:rPr>
              <a:t>03 Hands already fidget</a:t>
            </a:r>
          </a:p>
        </p:txBody>
      </p:sp>
      <p:sp>
        <p:nvSpPr>
          <p:cNvPr id="41" name="t"/>
          <p:cNvSpPr txBox="1"/>
          <p:nvPr/>
        </p:nvSpPr>
        <p:spPr>
          <a:xfrm>
            <a:off x="8183880" y="2944368"/>
            <a:ext cx="3017520" cy="914400"/>
          </a:xfrm>
          <a:prstGeom prst="rect">
            <a:avLst/>
          </a:prstGeom>
          <a:noFill/>
        </p:spPr>
        <p:txBody>
          <a:bodyPr wrap="square" anchor="t">
            <a:normAutofit/>
          </a:bodyPr>
          <a:p>
            <a:pPr/>
            <a:r>
              <a:rPr lang="en-US" sz="1200">
                <a:solidFill>
                  <a:srgbClr val="6F6A63"/>
                </a:solidFill>
                <a:latin typeface="Helvetica Neue"/>
              </a:rPr>
              <a:t>Pens, phones. Redirect the behaviour, don't invent a habit.</a:t>
            </a:r>
          </a:p>
        </p:txBody>
      </p:sp>
      <p:sp>
        <p:nvSpPr>
          <p:cNvPr id="42" name="r"/>
          <p:cNvSpPr/>
          <p:nvPr/>
        </p:nvSpPr>
        <p:spPr>
          <a:xfrm>
            <a:off x="777240" y="4206240"/>
            <a:ext cx="3383280" cy="1737360"/>
          </a:xfrm>
          <a:prstGeom prst="rect">
            <a:avLst/>
          </a:prstGeom>
          <a:solidFill>
            <a:srgbClr val="EDE7DD"/>
          </a:solidFill>
          <a:ln>
            <a:noFill/>
          </a:ln>
        </p:spPr>
        <p:txBody>
          <a:bodyPr/>
          <a:p/>
        </p:txBody>
      </p:sp>
      <p:sp>
        <p:nvSpPr>
          <p:cNvPr id="43" name="t"/>
          <p:cNvSpPr txBox="1"/>
          <p:nvPr/>
        </p:nvSpPr>
        <p:spPr>
          <a:xfrm>
            <a:off x="960120" y="4370832"/>
            <a:ext cx="3017520" cy="457200"/>
          </a:xfrm>
          <a:prstGeom prst="rect">
            <a:avLst/>
          </a:prstGeom>
          <a:noFill/>
        </p:spPr>
        <p:txBody>
          <a:bodyPr wrap="square" anchor="t">
            <a:normAutofit/>
          </a:bodyPr>
          <a:p>
            <a:pPr/>
            <a:r>
              <a:rPr lang="en-US" sz="1500" b="1">
                <a:solidFill>
                  <a:srgbClr val="2A2622"/>
                </a:solidFill>
                <a:latin typeface="Helvetica Neue"/>
              </a:rPr>
              <a:t>04 Guide me, don't ask me</a:t>
            </a:r>
          </a:p>
        </p:txBody>
      </p:sp>
      <p:sp>
        <p:nvSpPr>
          <p:cNvPr id="44" name="t"/>
          <p:cNvSpPr txBox="1"/>
          <p:nvPr/>
        </p:nvSpPr>
        <p:spPr>
          <a:xfrm>
            <a:off x="960120" y="4864608"/>
            <a:ext cx="3017520" cy="914400"/>
          </a:xfrm>
          <a:prstGeom prst="rect">
            <a:avLst/>
          </a:prstGeom>
          <a:noFill/>
        </p:spPr>
        <p:txBody>
          <a:bodyPr wrap="square" anchor="t">
            <a:normAutofit/>
          </a:bodyPr>
          <a:p>
            <a:pPr/>
            <a:r>
              <a:rPr lang="en-US" sz="1200">
                <a:solidFill>
                  <a:srgbClr val="6F6A63"/>
                </a:solidFill>
                <a:latin typeface="Helvetica Neue"/>
              </a:rPr>
              <a:t>No willpower left to relax on command — the light leads.</a:t>
            </a:r>
          </a:p>
        </p:txBody>
      </p:sp>
      <p:sp>
        <p:nvSpPr>
          <p:cNvPr id="45" name="r"/>
          <p:cNvSpPr/>
          <p:nvPr/>
        </p:nvSpPr>
        <p:spPr>
          <a:xfrm>
            <a:off x="4389120" y="4206240"/>
            <a:ext cx="3383280" cy="1737360"/>
          </a:xfrm>
          <a:prstGeom prst="rect">
            <a:avLst/>
          </a:prstGeom>
          <a:solidFill>
            <a:srgbClr val="EDE7DD"/>
          </a:solidFill>
          <a:ln>
            <a:noFill/>
          </a:ln>
        </p:spPr>
        <p:txBody>
          <a:bodyPr/>
          <a:p/>
        </p:txBody>
      </p:sp>
      <p:sp>
        <p:nvSpPr>
          <p:cNvPr id="46" name="t"/>
          <p:cNvSpPr txBox="1"/>
          <p:nvPr/>
        </p:nvSpPr>
        <p:spPr>
          <a:xfrm>
            <a:off x="4572000" y="4370832"/>
            <a:ext cx="3017520" cy="457200"/>
          </a:xfrm>
          <a:prstGeom prst="rect">
            <a:avLst/>
          </a:prstGeom>
          <a:noFill/>
        </p:spPr>
        <p:txBody>
          <a:bodyPr wrap="square" anchor="t">
            <a:normAutofit/>
          </a:bodyPr>
          <a:p>
            <a:pPr/>
            <a:r>
              <a:rPr lang="en-US" sz="1500" b="1">
                <a:solidFill>
                  <a:srgbClr val="2A2622"/>
                </a:solidFill>
                <a:latin typeface="Helvetica Neue"/>
              </a:rPr>
              <a:t>05 Stop &amp; resume anytime</a:t>
            </a:r>
          </a:p>
        </p:txBody>
      </p:sp>
      <p:sp>
        <p:nvSpPr>
          <p:cNvPr id="47" name="t"/>
          <p:cNvSpPr txBox="1"/>
          <p:nvPr/>
        </p:nvSpPr>
        <p:spPr>
          <a:xfrm>
            <a:off x="4572000" y="4864608"/>
            <a:ext cx="3017520" cy="914400"/>
          </a:xfrm>
          <a:prstGeom prst="rect">
            <a:avLst/>
          </a:prstGeom>
          <a:noFill/>
        </p:spPr>
        <p:txBody>
          <a:bodyPr wrap="square" anchor="t">
            <a:normAutofit/>
          </a:bodyPr>
          <a:p>
            <a:pPr/>
            <a:r>
              <a:rPr lang="en-US" sz="1200">
                <a:solidFill>
                  <a:srgbClr val="6F6A63"/>
                </a:solidFill>
                <a:latin typeface="Helvetica Neue"/>
              </a:rPr>
              <a:t>Breaks get cut short — no timer, no “session failed” guilt.</a:t>
            </a:r>
          </a:p>
        </p:txBody>
      </p:sp>
      <p:sp>
        <p:nvSpPr>
          <p:cNvPr id="48" name="r"/>
          <p:cNvSpPr/>
          <p:nvPr/>
        </p:nvSpPr>
        <p:spPr>
          <a:xfrm>
            <a:off x="8001000" y="4206240"/>
            <a:ext cx="3383280" cy="1737360"/>
          </a:xfrm>
          <a:prstGeom prst="rect">
            <a:avLst/>
          </a:prstGeom>
          <a:solidFill>
            <a:srgbClr val="EDE7DD"/>
          </a:solidFill>
          <a:ln>
            <a:noFill/>
          </a:ln>
        </p:spPr>
        <p:txBody>
          <a:bodyPr/>
          <a:p/>
        </p:txBody>
      </p:sp>
      <p:sp>
        <p:nvSpPr>
          <p:cNvPr id="49" name="t"/>
          <p:cNvSpPr txBox="1"/>
          <p:nvPr/>
        </p:nvSpPr>
        <p:spPr>
          <a:xfrm>
            <a:off x="8183880" y="4370832"/>
            <a:ext cx="3017520" cy="457200"/>
          </a:xfrm>
          <a:prstGeom prst="rect">
            <a:avLst/>
          </a:prstGeom>
          <a:noFill/>
        </p:spPr>
        <p:txBody>
          <a:bodyPr wrap="square" anchor="t">
            <a:normAutofit/>
          </a:bodyPr>
          <a:p>
            <a:pPr/>
            <a:r>
              <a:rPr lang="en-US" sz="1500" b="1">
                <a:solidFill>
                  <a:srgbClr val="2A2622"/>
                </a:solidFill>
                <a:latin typeface="Helvetica Neue"/>
              </a:rPr>
              <a:t>06 Taste &amp; material matter</a:t>
            </a:r>
          </a:p>
        </p:txBody>
      </p:sp>
      <p:sp>
        <p:nvSpPr>
          <p:cNvPr id="50" name="t"/>
          <p:cNvSpPr txBox="1"/>
          <p:nvPr/>
        </p:nvSpPr>
        <p:spPr>
          <a:xfrm>
            <a:off x="8183880" y="4864608"/>
            <a:ext cx="3017520" cy="914400"/>
          </a:xfrm>
          <a:prstGeom prst="rect">
            <a:avLst/>
          </a:prstGeom>
          <a:noFill/>
        </p:spPr>
        <p:txBody>
          <a:bodyPr wrap="square" anchor="t">
            <a:normAutofit/>
          </a:bodyPr>
          <a:p>
            <a:pPr/>
            <a:r>
              <a:rPr lang="en-US" sz="1200">
                <a:solidFill>
                  <a:srgbClr val="6F6A63"/>
                </a:solidFill>
                <a:latin typeface="Helvetica Neue"/>
              </a:rPr>
              <a:t>It lives on their desk — finish and material carry the value.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
          <p:cNvSpPr/>
          <p:nvPr/>
        </p:nvSpPr>
        <p:spPr>
          <a:xfrm>
            <a:off x="0" y="0"/>
            <a:ext cx="12192000" cy="6858000"/>
          </a:xfrm>
          <a:prstGeom prst="rect">
            <a:avLst/>
          </a:prstGeom>
          <a:solidFill>
            <a:srgbClr val="F6F2EA"/>
          </a:solidFill>
          <a:ln>
            <a:noFill/>
          </a:ln>
        </p:spPr>
        <p:txBody>
          <a:bodyPr/>
          <a:p/>
        </p:txBody>
      </p:sp>
      <p:sp>
        <p:nvSpPr>
          <p:cNvPr id="52" name="r"/>
          <p:cNvSpPr/>
          <p:nvPr/>
        </p:nvSpPr>
        <p:spPr>
          <a:xfrm>
            <a:off x="502920" y="640080"/>
            <a:ext cx="5486400" cy="5577840"/>
          </a:xfrm>
          <a:prstGeom prst="rect">
            <a:avLst/>
          </a:prstGeom>
          <a:solidFill>
            <a:srgbClr val="EDE7DD"/>
          </a:solidFill>
          <a:ln>
            <a:noFill/>
          </a:ln>
        </p:spPr>
        <p:txBody>
          <a:bodyPr/>
          <a:p/>
        </p:txBody>
      </p:sp>
      <p:pic>
        <p:nvPicPr>
          <p:cNvPr id="53" name="p"/>
          <p:cNvPicPr/>
          <p:nvPr/>
        </p:nvPicPr>
        <p:blipFill>
          <a:blip r:embed="rId2"/>
          <a:stretch>
            <a:fillRect/>
          </a:stretch>
        </p:blipFill>
        <p:spPr>
          <a:xfrm>
            <a:off x="502920" y="640080"/>
            <a:ext cx="5486400" cy="5577840"/>
          </a:xfrm>
          <a:prstGeom prst="rect">
            <a:avLst/>
          </a:prstGeom>
        </p:spPr>
      </p:pic>
      <p:sp>
        <p:nvSpPr>
          <p:cNvPr id="54" name="t"/>
          <p:cNvSpPr txBox="1"/>
          <p:nvPr/>
        </p:nvSpPr>
        <p:spPr>
          <a:xfrm>
            <a:off x="6400800" y="1280160"/>
            <a:ext cx="4297680" cy="365760"/>
          </a:xfrm>
          <a:prstGeom prst="rect">
            <a:avLst/>
          </a:prstGeom>
          <a:noFill/>
        </p:spPr>
        <p:txBody>
          <a:bodyPr wrap="square" anchor="t">
            <a:normAutofit/>
          </a:bodyPr>
          <a:p>
            <a:pPr/>
            <a:r>
              <a:rPr lang="en-US" sz="1300" b="1">
                <a:solidFill>
                  <a:srgbClr val="B06F30"/>
                </a:solidFill>
                <a:latin typeface="Helvetica Neue"/>
              </a:rPr>
              <a:t>THE INTERACTION</a:t>
            </a:r>
          </a:p>
        </p:txBody>
      </p:sp>
      <p:sp>
        <p:nvSpPr>
          <p:cNvPr id="55" name="t"/>
          <p:cNvSpPr txBox="1"/>
          <p:nvPr/>
        </p:nvSpPr>
        <p:spPr>
          <a:xfrm>
            <a:off x="6400800" y="1737360"/>
            <a:ext cx="4297680" cy="1463040"/>
          </a:xfrm>
          <a:prstGeom prst="rect">
            <a:avLst/>
          </a:prstGeom>
          <a:noFill/>
        </p:spPr>
        <p:txBody>
          <a:bodyPr wrap="square" anchor="t">
            <a:normAutofit/>
          </a:bodyPr>
          <a:p>
            <a:pPr/>
            <a:r>
              <a:rPr lang="en-US" sz="3200" b="1">
                <a:solidFill>
                  <a:srgbClr val="2A2622"/>
                </a:solidFill>
                <a:latin typeface="Helvetica Neue"/>
              </a:rPr>
              <a:t>One gesture. Trace, and slow down.</a:t>
            </a:r>
          </a:p>
        </p:txBody>
      </p:sp>
      <p:sp>
        <p:nvSpPr>
          <p:cNvPr id="56" name="t"/>
          <p:cNvSpPr txBox="1"/>
          <p:nvPr/>
        </p:nvSpPr>
        <p:spPr>
          <a:xfrm>
            <a:off x="6400800" y="3200400"/>
            <a:ext cx="4297680" cy="2743200"/>
          </a:xfrm>
          <a:prstGeom prst="rect">
            <a:avLst/>
          </a:prstGeom>
          <a:noFill/>
        </p:spPr>
        <p:txBody>
          <a:bodyPr wrap="square" anchor="t">
            <a:normAutofit/>
          </a:bodyPr>
          <a:p>
            <a:pPr/>
            <a:r>
              <a:rPr lang="en-US" sz="1800">
                <a:solidFill>
                  <a:srgbClr val="6F6A63"/>
                </a:solidFill>
                <a:latin typeface="Helvetica Neue"/>
              </a:rPr>
              <a:t>Your finger follows a warm light inward as you breathe in, outward as you breathe out.</a:t>
            </a:r>
          </a:p>
          <a:p>
            <a:pPr/>
            <a:r>
              <a:rPr lang="en-US" sz="1800">
                <a:solidFill>
                  <a:srgbClr val="6F6A63"/>
                </a:solidFill>
                <a:latin typeface="Helvetica Neue"/>
              </a:rPr>
              <a:t>The groove limits your speed, so you can't rush.</a:t>
            </a:r>
          </a:p>
          <a:p>
            <a:pPr/>
            <a:r>
              <a:rPr lang="en-US" sz="1800">
                <a:solidFill>
                  <a:srgbClr val="6F6A63"/>
                </a:solidFill>
                <a:latin typeface="Helvetica Neue"/>
              </a:rPr>
              <a:t>Keep pace and the path glows warmer — a quiet “you've got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
          <p:cNvSpPr/>
          <p:nvPr/>
        </p:nvSpPr>
        <p:spPr>
          <a:xfrm>
            <a:off x="0" y="0"/>
            <a:ext cx="12192000" cy="6858000"/>
          </a:xfrm>
          <a:prstGeom prst="rect">
            <a:avLst/>
          </a:prstGeom>
          <a:solidFill>
            <a:srgbClr val="F6F2EA"/>
          </a:solidFill>
          <a:ln>
            <a:noFill/>
          </a:ln>
        </p:spPr>
        <p:txBody>
          <a:bodyPr/>
          <a:p/>
        </p:txBody>
      </p:sp>
      <p:sp>
        <p:nvSpPr>
          <p:cNvPr id="58" name="r"/>
          <p:cNvSpPr/>
          <p:nvPr/>
        </p:nvSpPr>
        <p:spPr>
          <a:xfrm>
            <a:off x="5989320" y="640080"/>
            <a:ext cx="5486400" cy="5577840"/>
          </a:xfrm>
          <a:prstGeom prst="rect">
            <a:avLst/>
          </a:prstGeom>
          <a:solidFill>
            <a:srgbClr val="EDE7DD"/>
          </a:solidFill>
          <a:ln>
            <a:noFill/>
          </a:ln>
        </p:spPr>
        <p:txBody>
          <a:bodyPr/>
          <a:p/>
        </p:txBody>
      </p:sp>
      <p:pic>
        <p:nvPicPr>
          <p:cNvPr id="59" name="p"/>
          <p:cNvPicPr/>
          <p:nvPr/>
        </p:nvPicPr>
        <p:blipFill>
          <a:blip r:embed="rId2"/>
          <a:stretch>
            <a:fillRect/>
          </a:stretch>
        </p:blipFill>
        <p:spPr>
          <a:xfrm>
            <a:off x="5989320" y="640080"/>
            <a:ext cx="5486400" cy="5577840"/>
          </a:xfrm>
          <a:prstGeom prst="rect">
            <a:avLst/>
          </a:prstGeom>
        </p:spPr>
      </p:pic>
      <p:sp>
        <p:nvSpPr>
          <p:cNvPr id="60" name="t"/>
          <p:cNvSpPr txBox="1"/>
          <p:nvPr/>
        </p:nvSpPr>
        <p:spPr>
          <a:xfrm>
            <a:off x="777240" y="1005840"/>
            <a:ext cx="4937760" cy="365760"/>
          </a:xfrm>
          <a:prstGeom prst="rect">
            <a:avLst/>
          </a:prstGeom>
          <a:noFill/>
        </p:spPr>
        <p:txBody>
          <a:bodyPr wrap="square" anchor="t">
            <a:normAutofit/>
          </a:bodyPr>
          <a:p>
            <a:pPr/>
            <a:r>
              <a:rPr lang="en-US" sz="1300" b="1">
                <a:solidFill>
                  <a:srgbClr val="B06F30"/>
                </a:solidFill>
                <a:latin typeface="Helvetica Neue"/>
              </a:rPr>
              <a:t>FORM</a:t>
            </a:r>
          </a:p>
        </p:txBody>
      </p:sp>
      <p:sp>
        <p:nvSpPr>
          <p:cNvPr id="61" name="t"/>
          <p:cNvSpPr txBox="1"/>
          <p:nvPr/>
        </p:nvSpPr>
        <p:spPr>
          <a:xfrm>
            <a:off x="777240" y="1463040"/>
            <a:ext cx="4937760" cy="1463040"/>
          </a:xfrm>
          <a:prstGeom prst="rect">
            <a:avLst/>
          </a:prstGeom>
          <a:noFill/>
        </p:spPr>
        <p:txBody>
          <a:bodyPr wrap="square" anchor="t">
            <a:normAutofit/>
          </a:bodyPr>
          <a:p>
            <a:pPr/>
            <a:r>
              <a:rPr lang="en-US" sz="3400" b="1">
                <a:solidFill>
                  <a:srgbClr val="2A2622"/>
                </a:solidFill>
                <a:latin typeface="Helvetica Neue"/>
              </a:rPr>
              <a:t>A soft pebble, not a device.</a:t>
            </a:r>
          </a:p>
        </p:txBody>
      </p:sp>
      <p:sp>
        <p:nvSpPr>
          <p:cNvPr id="62" name="t"/>
          <p:cNvSpPr txBox="1"/>
          <p:nvPr/>
        </p:nvSpPr>
        <p:spPr>
          <a:xfrm>
            <a:off x="777240" y="3017520"/>
            <a:ext cx="4937760" cy="2926080"/>
          </a:xfrm>
          <a:prstGeom prst="rect">
            <a:avLst/>
          </a:prstGeom>
          <a:noFill/>
        </p:spPr>
        <p:txBody>
          <a:bodyPr wrap="square" anchor="t">
            <a:normAutofit/>
          </a:bodyPr>
          <a:p>
            <a:pPr/>
            <a:r>
              <a:rPr lang="en-US" sz="1800">
                <a:solidFill>
                  <a:srgbClr val="6F6A63"/>
                </a:solidFill>
                <a:latin typeface="Helvetica Neue"/>
              </a:rPr>
              <a:t>Ø140 × 24 mm smooth white-ceramic saucer.</a:t>
            </a:r>
          </a:p>
          <a:p>
            <a:pPr/>
            <a:r>
              <a:rPr lang="en-US" sz="1800">
                <a:solidFill>
                  <a:srgbClr val="6F6A63"/>
                </a:solidFill>
                <a:latin typeface="Helvetica Neue"/>
              </a:rPr>
              <a:t>Rounded everywhere — no sharp corner.</a:t>
            </a:r>
          </a:p>
          <a:p>
            <a:pPr/>
            <a:r>
              <a:rPr lang="en-US" sz="1800">
                <a:solidFill>
                  <a:srgbClr val="6F6A63"/>
                </a:solidFill>
                <a:latin typeface="Helvetica Neue"/>
              </a:rPr>
              <a:t>One spiral groove flowing into a center dish.</a:t>
            </a:r>
          </a:p>
          <a:p>
            <a:pPr/>
            <a:r>
              <a:rPr lang="en-US" sz="1800">
                <a:solidFill>
                  <a:srgbClr val="6F6A63"/>
                </a:solidFill>
                <a:latin typeface="Helvetica Neue"/>
              </a:rPr>
              <a:t>Lift-to-wake, no visible buttons.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p"/>
          <p:cNvPicPr/>
          <p:nvPr/>
        </p:nvPicPr>
        <p:blipFill>
          <a:blip r:embed="rId2"/>
          <a:stretch>
            <a:fillRect/>
          </a:stretch>
        </p:blipFill>
        <p:spPr>
          <a:xfrm>
            <a:off x="0" y="0"/>
            <a:ext cx="12192000" cy="6858000"/>
          </a:xfrm>
          <a:prstGeom prst="rect">
            <a:avLst/>
          </a:prstGeom>
        </p:spPr>
      </p:pic>
      <p:sp>
        <p:nvSpPr>
          <p:cNvPr id="64" name="t"/>
          <p:cNvSpPr txBox="1"/>
          <p:nvPr/>
        </p:nvSpPr>
        <p:spPr>
          <a:xfrm>
            <a:off x="777240" y="4754880"/>
            <a:ext cx="6858000" cy="365760"/>
          </a:xfrm>
          <a:prstGeom prst="rect">
            <a:avLst/>
          </a:prstGeom>
          <a:noFill/>
        </p:spPr>
        <p:txBody>
          <a:bodyPr wrap="square" anchor="t">
            <a:normAutofit/>
          </a:bodyPr>
          <a:p>
            <a:pPr/>
            <a:r>
              <a:rPr lang="en-US" sz="1300" b="1">
                <a:solidFill>
                  <a:srgbClr val="F0C088"/>
                </a:solidFill>
                <a:latin typeface="Helvetica Neue"/>
              </a:rPr>
              <a:t>IN CONTEXT</a:t>
            </a:r>
          </a:p>
        </p:txBody>
      </p:sp>
      <p:sp>
        <p:nvSpPr>
          <p:cNvPr id="65" name="t"/>
          <p:cNvSpPr txBox="1"/>
          <p:nvPr/>
        </p:nvSpPr>
        <p:spPr>
          <a:xfrm>
            <a:off x="777240" y="5212080"/>
            <a:ext cx="6858000" cy="1097280"/>
          </a:xfrm>
          <a:prstGeom prst="rect">
            <a:avLst/>
          </a:prstGeom>
          <a:noFill/>
        </p:spPr>
        <p:txBody>
          <a:bodyPr wrap="square" anchor="t">
            <a:normAutofit/>
          </a:bodyPr>
          <a:p>
            <a:pPr/>
            <a:r>
              <a:rPr lang="en-US" sz="3000" b="1">
                <a:solidFill>
                  <a:srgbClr val="FFFFFF"/>
                </a:solidFill>
                <a:latin typeface="Helvetica Neue"/>
              </a:rPr>
              <a:t>It lives on the desk like a quiet invitation.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
          <p:cNvSpPr/>
          <p:nvPr/>
        </p:nvSpPr>
        <p:spPr>
          <a:xfrm>
            <a:off x="0" y="0"/>
            <a:ext cx="12192000" cy="6858000"/>
          </a:xfrm>
          <a:prstGeom prst="rect">
            <a:avLst/>
          </a:prstGeom>
          <a:solidFill>
            <a:srgbClr val="F6F2EA"/>
          </a:solidFill>
          <a:ln>
            <a:noFill/>
          </a:ln>
        </p:spPr>
        <p:txBody>
          <a:bodyPr/>
          <a:p/>
        </p:txBody>
      </p:sp>
      <p:sp>
        <p:nvSpPr>
          <p:cNvPr id="67" name="r"/>
          <p:cNvSpPr/>
          <p:nvPr/>
        </p:nvSpPr>
        <p:spPr>
          <a:xfrm>
            <a:off x="5989320" y="640080"/>
            <a:ext cx="5486400" cy="5577840"/>
          </a:xfrm>
          <a:prstGeom prst="rect">
            <a:avLst/>
          </a:prstGeom>
          <a:solidFill>
            <a:srgbClr val="EDE7DD"/>
          </a:solidFill>
          <a:ln>
            <a:noFill/>
          </a:ln>
        </p:spPr>
        <p:txBody>
          <a:bodyPr/>
          <a:p/>
        </p:txBody>
      </p:sp>
      <p:pic>
        <p:nvPicPr>
          <p:cNvPr id="68" name="p"/>
          <p:cNvPicPr/>
          <p:nvPr/>
        </p:nvPicPr>
        <p:blipFill>
          <a:blip r:embed="rId2"/>
          <a:stretch>
            <a:fillRect/>
          </a:stretch>
        </p:blipFill>
        <p:spPr>
          <a:xfrm>
            <a:off x="5989320" y="640080"/>
            <a:ext cx="5486400" cy="5577840"/>
          </a:xfrm>
          <a:prstGeom prst="rect">
            <a:avLst/>
          </a:prstGeom>
        </p:spPr>
      </p:pic>
      <p:sp>
        <p:nvSpPr>
          <p:cNvPr id="69" name="t"/>
          <p:cNvSpPr txBox="1"/>
          <p:nvPr/>
        </p:nvSpPr>
        <p:spPr>
          <a:xfrm>
            <a:off x="777240" y="1005840"/>
            <a:ext cx="4937760" cy="365760"/>
          </a:xfrm>
          <a:prstGeom prst="rect">
            <a:avLst/>
          </a:prstGeom>
          <a:noFill/>
        </p:spPr>
        <p:txBody>
          <a:bodyPr wrap="square" anchor="t">
            <a:normAutofit/>
          </a:bodyPr>
          <a:p>
            <a:pPr/>
            <a:r>
              <a:rPr lang="en-US" sz="1300" b="1">
                <a:solidFill>
                  <a:srgbClr val="B06F30"/>
                </a:solidFill>
                <a:latin typeface="Helvetica Neue"/>
              </a:rPr>
              <a:t>LIGHT &amp; BUILD</a:t>
            </a:r>
          </a:p>
        </p:txBody>
      </p:sp>
      <p:sp>
        <p:nvSpPr>
          <p:cNvPr id="70" name="t"/>
          <p:cNvSpPr txBox="1"/>
          <p:nvPr/>
        </p:nvSpPr>
        <p:spPr>
          <a:xfrm>
            <a:off x="777240" y="1463040"/>
            <a:ext cx="4937760" cy="1463040"/>
          </a:xfrm>
          <a:prstGeom prst="rect">
            <a:avLst/>
          </a:prstGeom>
          <a:noFill/>
        </p:spPr>
        <p:txBody>
          <a:bodyPr wrap="square" anchor="t">
            <a:normAutofit/>
          </a:bodyPr>
          <a:p>
            <a:pPr/>
            <a:r>
              <a:rPr lang="en-US" sz="3400" b="1">
                <a:solidFill>
                  <a:srgbClr val="2A2622"/>
                </a:solidFill>
                <a:latin typeface="Helvetica Neue"/>
              </a:rPr>
              <a:t>The calm is engineered.</a:t>
            </a:r>
          </a:p>
        </p:txBody>
      </p:sp>
      <p:sp>
        <p:nvSpPr>
          <p:cNvPr id="71" name="t"/>
          <p:cNvSpPr txBox="1"/>
          <p:nvPr/>
        </p:nvSpPr>
        <p:spPr>
          <a:xfrm>
            <a:off x="777240" y="3017520"/>
            <a:ext cx="4937760" cy="2926080"/>
          </a:xfrm>
          <a:prstGeom prst="rect">
            <a:avLst/>
          </a:prstGeom>
          <a:noFill/>
        </p:spPr>
        <p:txBody>
          <a:bodyPr wrap="square" anchor="t">
            <a:normAutofit/>
          </a:bodyPr>
          <a:p>
            <a:pPr/>
            <a:r>
              <a:rPr lang="en-US" sz="1800">
                <a:solidFill>
                  <a:srgbClr val="6F6A63"/>
                </a:solidFill>
                <a:latin typeface="Helvetica Neue"/>
              </a:rPr>
              <a:t>LEDs feed a diffuser in the groove floor — light lives inside the channel, no visible bulbs.</a:t>
            </a:r>
          </a:p>
          <a:p>
            <a:pPr/>
            <a:r>
              <a:rPr lang="en-US" sz="1800">
                <a:solidFill>
                  <a:srgbClr val="6F6A63"/>
                </a:solidFill>
                <a:latin typeface="Helvetica Neue"/>
              </a:rPr>
              <a:t>A soft point travels the groove to set the breath; warm amber, never a cold notification.</a:t>
            </a:r>
          </a:p>
          <a:p>
            <a:pPr/>
            <a:r>
              <a:rPr lang="en-US" sz="1800">
                <a:solidFill>
                  <a:srgbClr val="6F6A63"/>
                </a:solidFill>
                <a:latin typeface="Helvetica Neue"/>
              </a:rPr>
              <a:t>Warming layer + weighted base; USB-C, lift-to-wake.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
          <p:cNvPicPr/>
          <p:nvPr/>
        </p:nvPicPr>
        <p:blipFill>
          <a:blip r:embed="rId2"/>
          <a:stretch>
            <a:fillRect/>
          </a:stretch>
        </p:blipFill>
        <p:spPr>
          <a:xfrm>
            <a:off x="0" y="0"/>
            <a:ext cx="12192000" cy="6858000"/>
          </a:xfrm>
          <a:prstGeom prst="rect">
            <a:avLst/>
          </a:prstGeom>
        </p:spPr>
      </p:pic>
      <p:sp>
        <p:nvSpPr>
          <p:cNvPr id="73" name="t"/>
          <p:cNvSpPr txBox="1"/>
          <p:nvPr/>
        </p:nvSpPr>
        <p:spPr>
          <a:xfrm>
            <a:off x="777240" y="4754880"/>
            <a:ext cx="6858000" cy="365760"/>
          </a:xfrm>
          <a:prstGeom prst="rect">
            <a:avLst/>
          </a:prstGeom>
          <a:noFill/>
        </p:spPr>
        <p:txBody>
          <a:bodyPr wrap="square" anchor="t">
            <a:normAutofit/>
          </a:bodyPr>
          <a:p>
            <a:pPr/>
            <a:r>
              <a:rPr lang="en-US" sz="1300" b="1">
                <a:solidFill>
                  <a:srgbClr val="F0C088"/>
                </a:solidFill>
                <a:latin typeface="Helvetica Neue"/>
              </a:rPr>
              <a:t>MATERIALS</a:t>
            </a:r>
          </a:p>
        </p:txBody>
      </p:sp>
      <p:sp>
        <p:nvSpPr>
          <p:cNvPr id="74" name="t"/>
          <p:cNvSpPr txBox="1"/>
          <p:nvPr/>
        </p:nvSpPr>
        <p:spPr>
          <a:xfrm>
            <a:off x="777240" y="5212080"/>
            <a:ext cx="6858000" cy="1097280"/>
          </a:xfrm>
          <a:prstGeom prst="rect">
            <a:avLst/>
          </a:prstGeom>
          <a:noFill/>
        </p:spPr>
        <p:txBody>
          <a:bodyPr wrap="square" anchor="t">
            <a:normAutofit/>
          </a:bodyPr>
          <a:p>
            <a:pPr/>
            <a:r>
              <a:rPr lang="en-US" sz="3000" b="1">
                <a:solidFill>
                  <a:srgbClr val="FFFFFF"/>
                </a:solidFill>
                <a:latin typeface="Helvetica Neue"/>
              </a:rPr>
              <a:t>One ritual, made for any desk.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
          <p:cNvSpPr/>
          <p:nvPr/>
        </p:nvSpPr>
        <p:spPr>
          <a:xfrm>
            <a:off x="0" y="0"/>
            <a:ext cx="12192000" cy="6858000"/>
          </a:xfrm>
          <a:prstGeom prst="rect">
            <a:avLst/>
          </a:prstGeom>
          <a:solidFill>
            <a:srgbClr val="26221E"/>
          </a:solidFill>
          <a:ln>
            <a:noFill/>
          </a:ln>
        </p:spPr>
        <p:txBody>
          <a:bodyPr/>
          <a:p/>
        </p:txBody>
      </p:sp>
      <p:sp>
        <p:nvSpPr>
          <p:cNvPr id="76" name="t"/>
          <p:cNvSpPr txBox="1"/>
          <p:nvPr/>
        </p:nvSpPr>
        <p:spPr>
          <a:xfrm>
            <a:off x="777240" y="914400"/>
            <a:ext cx="10637520" cy="365760"/>
          </a:xfrm>
          <a:prstGeom prst="rect">
            <a:avLst/>
          </a:prstGeom>
          <a:noFill/>
        </p:spPr>
        <p:txBody>
          <a:bodyPr wrap="square" anchor="t">
            <a:normAutofit/>
          </a:bodyPr>
          <a:p>
            <a:pPr/>
            <a:r>
              <a:rPr lang="en-US" sz="1300" b="1">
                <a:solidFill>
                  <a:srgbClr val="B06F30"/>
                </a:solidFill>
                <a:latin typeface="Helvetica Neue"/>
              </a:rPr>
              <a:t>THE TAKEAWAY</a:t>
            </a:r>
          </a:p>
        </p:txBody>
      </p:sp>
      <p:sp>
        <p:nvSpPr>
          <p:cNvPr id="77" name="t"/>
          <p:cNvSpPr txBox="1"/>
          <p:nvPr/>
        </p:nvSpPr>
        <p:spPr>
          <a:xfrm>
            <a:off x="777240" y="1417320"/>
            <a:ext cx="10637520" cy="1463040"/>
          </a:xfrm>
          <a:prstGeom prst="rect">
            <a:avLst/>
          </a:prstGeom>
          <a:noFill/>
        </p:spPr>
        <p:txBody>
          <a:bodyPr wrap="square" anchor="t">
            <a:normAutofit/>
          </a:bodyPr>
          <a:p>
            <a:pPr/>
            <a:r>
              <a:rPr lang="en-US" sz="4000" b="1">
                <a:solidFill>
                  <a:srgbClr val="FFFFFF"/>
                </a:solidFill>
                <a:latin typeface="Helvetica Neue"/>
              </a:rPr>
              <a:t>We didn't design a disc. We designed three quiet minutes.</a:t>
            </a:r>
          </a:p>
        </p:txBody>
      </p:sp>
      <p:sp>
        <p:nvSpPr>
          <p:cNvPr id="78" name="t"/>
          <p:cNvSpPr txBox="1"/>
          <p:nvPr/>
        </p:nvSpPr>
        <p:spPr>
          <a:xfrm>
            <a:off x="777240" y="3154680"/>
            <a:ext cx="9326880" cy="3108960"/>
          </a:xfrm>
          <a:prstGeom prst="rect">
            <a:avLst/>
          </a:prstGeom>
          <a:noFill/>
        </p:spPr>
        <p:txBody>
          <a:bodyPr wrap="square" anchor="t">
            <a:normAutofit/>
          </a:bodyPr>
          <a:p>
            <a:pPr/>
            <a:r>
              <a:rPr lang="en-US" sz="2000">
                <a:solidFill>
                  <a:srgbClr val="D8CFC6"/>
                </a:solidFill>
                <a:latin typeface="Helvetica Neue"/>
              </a:rPr>
              <a:t>Next: a physical prototype with a real engraved groove and warm light band,</a:t>
            </a:r>
          </a:p>
          <a:p>
            <a:pPr/>
            <a:r>
              <a:rPr lang="en-US" sz="2000">
                <a:solidFill>
                  <a:srgbClr val="D8CFC6"/>
                </a:solidFill>
                <a:latin typeface="Helvetica Neue"/>
              </a:rPr>
              <a:t>HRV validation of the calm effect, and a short field study to see if it survives the novelty-fade.</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B06F3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Neue"/>
        <a:ea typeface=""/>
        <a:cs typeface=""/>
      </a:majorFont>
      <a:minorFont>
        <a:latin typeface="Helvetica Neue"/>
        <a:ea typeface=""/>
        <a:cs typeface=""/>
      </a:minorFont>
    </a:fontScheme>
    <a:fmtScheme name="Office">
      <a:fillStyleLst>
        <a:solidFill>
          <a:schemeClr val="phClr"/>
        </a:solidFill>
        <a:solidFill>
          <a:schemeClr val="phClr"/>
        </a:solidFill>
        <a:solidFill>
          <a:schemeClr val="phClr"/>
        </a:solidFill>
      </a:fillStyleLst>
      <a:lnStyleLst>
        <a:ln>
          <a:solidFill>
            <a:schemeClr val="phClr"/>
          </a:solidFill>
        </a:ln>
        <a:ln>
          <a:solidFill>
            <a:schemeClr val="phClr"/>
          </a:solidFill>
        </a:ln>
        <a:ln>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Labyrinth Deck</Application>
  <PresentationFormat>Widescreen</PresentationFormat>
  <Slides>11</Slides>
  <Company/>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Labyrinth</dc:title>
  <dc:creator>Shuoning Shi</dc:creator>
  <cp:lastModifiedBy>Shuoning Shi</cp:lastModifiedBy>
</cp:coreProperties>
</file>